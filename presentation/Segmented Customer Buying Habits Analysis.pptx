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1" r:id="rId2"/>
    <p:sldId id="259" r:id="rId3"/>
    <p:sldId id="265" r:id="rId4"/>
    <p:sldId id="257" r:id="rId5"/>
    <p:sldId id="258" r:id="rId6"/>
    <p:sldId id="262" r:id="rId7"/>
    <p:sldId id="263" r:id="rId8"/>
    <p:sldId id="264" r:id="rId9"/>
    <p:sldId id="277" r:id="rId10"/>
    <p:sldId id="279" r:id="rId11"/>
    <p:sldId id="280" r:id="rId12"/>
    <p:sldId id="266" r:id="rId13"/>
    <p:sldId id="273" r:id="rId14"/>
    <p:sldId id="268" r:id="rId15"/>
    <p:sldId id="274" r:id="rId16"/>
    <p:sldId id="271" r:id="rId17"/>
    <p:sldId id="272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7A2A69-7BD4-428E-BE1C-C11046DBE27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32EACF-A788-4F15-B22F-2634726B57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Pylon 1: </a:t>
          </a:r>
        </a:p>
        <a:p>
          <a:pPr>
            <a:lnSpc>
              <a:spcPct val="100000"/>
            </a:lnSpc>
          </a:pPr>
          <a:r>
            <a:rPr lang="en-US" dirty="0"/>
            <a:t>Strategic Macro-Segmentation </a:t>
          </a:r>
          <a:br>
            <a:rPr lang="en-US" dirty="0"/>
          </a:br>
          <a:r>
            <a:rPr lang="en-US" dirty="0"/>
            <a:t>(2-Cluster Model)</a:t>
          </a:r>
        </a:p>
      </dgm:t>
    </dgm:pt>
    <dgm:pt modelId="{8D97A108-9A65-4F72-B745-EF9A928154A9}" type="parTrans" cxnId="{841C1676-5CAC-42A8-B0E3-AE5D2E6DB416}">
      <dgm:prSet/>
      <dgm:spPr/>
      <dgm:t>
        <a:bodyPr/>
        <a:lstStyle/>
        <a:p>
          <a:endParaRPr lang="en-US"/>
        </a:p>
      </dgm:t>
    </dgm:pt>
    <dgm:pt modelId="{8265CC31-0A44-47C8-8A7F-C95383705F03}" type="sibTrans" cxnId="{841C1676-5CAC-42A8-B0E3-AE5D2E6DB416}">
      <dgm:prSet/>
      <dgm:spPr/>
      <dgm:t>
        <a:bodyPr/>
        <a:lstStyle/>
        <a:p>
          <a:endParaRPr lang="en-US"/>
        </a:p>
      </dgm:t>
    </dgm:pt>
    <dgm:pt modelId="{46ACC357-F7B7-4185-BF03-B327DB65BCA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Primary Focus: </a:t>
          </a:r>
          <a:r>
            <a:rPr lang="en-US" sz="1400" dirty="0"/>
            <a:t>The fundamental market divide</a:t>
          </a:r>
        </a:p>
      </dgm:t>
    </dgm:pt>
    <dgm:pt modelId="{4136FE15-2502-419C-BFC7-1444E3F607AD}" type="parTrans" cxnId="{0979A069-1183-480C-8566-DE340674D21A}">
      <dgm:prSet/>
      <dgm:spPr/>
      <dgm:t>
        <a:bodyPr/>
        <a:lstStyle/>
        <a:p>
          <a:endParaRPr lang="en-US"/>
        </a:p>
      </dgm:t>
    </dgm:pt>
    <dgm:pt modelId="{FF200AD7-0CC3-4B10-A982-D2F9B6D34475}" type="sibTrans" cxnId="{0979A069-1183-480C-8566-DE340674D21A}">
      <dgm:prSet/>
      <dgm:spPr/>
      <dgm:t>
        <a:bodyPr/>
        <a:lstStyle/>
        <a:p>
          <a:endParaRPr lang="en-US"/>
        </a:p>
      </dgm:t>
    </dgm:pt>
    <dgm:pt modelId="{FA8FDCEF-FE7A-44EC-9860-1CFB0F9CBA1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Business Utility: </a:t>
          </a:r>
          <a:r>
            <a:rPr lang="en-US" sz="1400" dirty="0"/>
            <a:t>Brand Positioning &amp; Strategy</a:t>
          </a:r>
        </a:p>
      </dgm:t>
    </dgm:pt>
    <dgm:pt modelId="{8724AB9D-3EFE-4B37-93A7-1278BFDB9155}" type="parTrans" cxnId="{F4C0799D-4F0C-43CA-9CD0-6D195AE7ADD6}">
      <dgm:prSet/>
      <dgm:spPr/>
      <dgm:t>
        <a:bodyPr/>
        <a:lstStyle/>
        <a:p>
          <a:endParaRPr lang="en-US"/>
        </a:p>
      </dgm:t>
    </dgm:pt>
    <dgm:pt modelId="{4B1E8E67-1B9D-4560-9B25-71543B0CE758}" type="sibTrans" cxnId="{F4C0799D-4F0C-43CA-9CD0-6D195AE7ADD6}">
      <dgm:prSet/>
      <dgm:spPr/>
      <dgm:t>
        <a:bodyPr/>
        <a:lstStyle/>
        <a:p>
          <a:endParaRPr lang="en-US"/>
        </a:p>
      </dgm:t>
    </dgm:pt>
    <dgm:pt modelId="{DAA2F29B-8DBA-4939-BD0D-A3B7D362556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Key Metric: </a:t>
          </a:r>
          <a:r>
            <a:rPr lang="en-US" sz="1400" dirty="0"/>
            <a:t>Demographic &amp; Category Gravity</a:t>
          </a:r>
        </a:p>
      </dgm:t>
    </dgm:pt>
    <dgm:pt modelId="{71C7BBC2-E2D8-46CC-88EA-FA4CC5D407BC}" type="parTrans" cxnId="{8BE414E9-7C28-47B2-BBD5-B689E46347CE}">
      <dgm:prSet/>
      <dgm:spPr/>
      <dgm:t>
        <a:bodyPr/>
        <a:lstStyle/>
        <a:p>
          <a:endParaRPr lang="en-US"/>
        </a:p>
      </dgm:t>
    </dgm:pt>
    <dgm:pt modelId="{A7374DD9-76E7-480C-8CC9-794B7575EC20}" type="sibTrans" cxnId="{8BE414E9-7C28-47B2-BBD5-B689E46347CE}">
      <dgm:prSet/>
      <dgm:spPr/>
      <dgm:t>
        <a:bodyPr/>
        <a:lstStyle/>
        <a:p>
          <a:endParaRPr lang="en-US"/>
        </a:p>
      </dgm:t>
    </dgm:pt>
    <dgm:pt modelId="{3168A038-4E38-4F01-9ED4-62B54EBE89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Pylon 2: </a:t>
          </a:r>
        </a:p>
        <a:p>
          <a:pPr>
            <a:lnSpc>
              <a:spcPct val="100000"/>
            </a:lnSpc>
          </a:pPr>
          <a:r>
            <a:rPr lang="en-US" dirty="0"/>
            <a:t>Tactical Micro-Persona Analysis </a:t>
          </a:r>
          <a:br>
            <a:rPr lang="en-US" dirty="0"/>
          </a:br>
          <a:r>
            <a:rPr lang="en-US" dirty="0"/>
            <a:t>(4-Cluster Model)</a:t>
          </a:r>
        </a:p>
      </dgm:t>
    </dgm:pt>
    <dgm:pt modelId="{CDE5A156-C31A-4959-B393-090A328D16EE}" type="parTrans" cxnId="{9F2335DB-58BA-4348-AB79-056C974BB8A4}">
      <dgm:prSet/>
      <dgm:spPr/>
      <dgm:t>
        <a:bodyPr/>
        <a:lstStyle/>
        <a:p>
          <a:endParaRPr lang="en-US"/>
        </a:p>
      </dgm:t>
    </dgm:pt>
    <dgm:pt modelId="{096D555F-CF5E-444B-8332-A9479AE84934}" type="sibTrans" cxnId="{9F2335DB-58BA-4348-AB79-056C974BB8A4}">
      <dgm:prSet/>
      <dgm:spPr/>
      <dgm:t>
        <a:bodyPr/>
        <a:lstStyle/>
        <a:p>
          <a:endParaRPr lang="en-US"/>
        </a:p>
      </dgm:t>
    </dgm:pt>
    <dgm:pt modelId="{35FF1896-307F-4238-84EB-CC0E1FA7A7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Primary Focus: </a:t>
          </a:r>
          <a:r>
            <a:rPr lang="en-US" dirty="0"/>
            <a:t>The Granular Buying Habits</a:t>
          </a:r>
        </a:p>
      </dgm:t>
    </dgm:pt>
    <dgm:pt modelId="{F51AC09C-D805-4B37-8A80-DCEAA64008C4}" type="parTrans" cxnId="{D214A4E5-02CF-43EC-AF44-97A5C848BC97}">
      <dgm:prSet/>
      <dgm:spPr/>
      <dgm:t>
        <a:bodyPr/>
        <a:lstStyle/>
        <a:p>
          <a:endParaRPr lang="en-US"/>
        </a:p>
      </dgm:t>
    </dgm:pt>
    <dgm:pt modelId="{39B2B231-E39E-4B8E-8F33-E3E14167B40A}" type="sibTrans" cxnId="{D214A4E5-02CF-43EC-AF44-97A5C848BC97}">
      <dgm:prSet/>
      <dgm:spPr/>
      <dgm:t>
        <a:bodyPr/>
        <a:lstStyle/>
        <a:p>
          <a:endParaRPr lang="en-US"/>
        </a:p>
      </dgm:t>
    </dgm:pt>
    <dgm:pt modelId="{B4B4BA6F-DEAC-402F-AC19-8C35A5194E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Business Utility: </a:t>
          </a:r>
          <a:r>
            <a:rPr lang="en-US" dirty="0"/>
            <a:t>Targeted Execution &amp; Personalization</a:t>
          </a:r>
        </a:p>
      </dgm:t>
    </dgm:pt>
    <dgm:pt modelId="{DFF03944-87C7-4431-872C-3C1BF27B8A8B}" type="parTrans" cxnId="{BC3CC122-F077-42FD-8EE8-526ED1BCEB6E}">
      <dgm:prSet/>
      <dgm:spPr/>
      <dgm:t>
        <a:bodyPr/>
        <a:lstStyle/>
        <a:p>
          <a:endParaRPr lang="en-US"/>
        </a:p>
      </dgm:t>
    </dgm:pt>
    <dgm:pt modelId="{60309BF9-5ADE-4E6E-991B-D3208FC4229D}" type="sibTrans" cxnId="{BC3CC122-F077-42FD-8EE8-526ED1BCEB6E}">
      <dgm:prSet/>
      <dgm:spPr/>
      <dgm:t>
        <a:bodyPr/>
        <a:lstStyle/>
        <a:p>
          <a:endParaRPr lang="en-US"/>
        </a:p>
      </dgm:t>
    </dgm:pt>
    <dgm:pt modelId="{DB8E3D5C-E59F-4539-B0D0-88E86041F7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Key Metric: </a:t>
          </a:r>
          <a:r>
            <a:rPr lang="en-US" dirty="0"/>
            <a:t>Frequency, Rating, &amp; Purchase Logic</a:t>
          </a:r>
        </a:p>
      </dgm:t>
    </dgm:pt>
    <dgm:pt modelId="{BC1161FF-E947-4AEA-8976-4E3B71DB492A}" type="parTrans" cxnId="{818790DF-1BAC-4CD0-B6F6-DD5F5B9DD929}">
      <dgm:prSet/>
      <dgm:spPr/>
      <dgm:t>
        <a:bodyPr/>
        <a:lstStyle/>
        <a:p>
          <a:endParaRPr lang="en-US"/>
        </a:p>
      </dgm:t>
    </dgm:pt>
    <dgm:pt modelId="{A1DDDE39-3387-464F-867E-606E18FD022D}" type="sibTrans" cxnId="{818790DF-1BAC-4CD0-B6F6-DD5F5B9DD929}">
      <dgm:prSet/>
      <dgm:spPr/>
      <dgm:t>
        <a:bodyPr/>
        <a:lstStyle/>
        <a:p>
          <a:endParaRPr lang="en-US"/>
        </a:p>
      </dgm:t>
    </dgm:pt>
    <dgm:pt modelId="{D91D6CCD-8AE8-4CA8-B305-EC732294442A}" type="pres">
      <dgm:prSet presAssocID="{597A2A69-7BD4-428E-BE1C-C11046DBE277}" presName="root" presStyleCnt="0">
        <dgm:presLayoutVars>
          <dgm:dir/>
          <dgm:resizeHandles val="exact"/>
        </dgm:presLayoutVars>
      </dgm:prSet>
      <dgm:spPr/>
    </dgm:pt>
    <dgm:pt modelId="{EA25C61C-6708-4399-9B50-A220AA026433}" type="pres">
      <dgm:prSet presAssocID="{DA32EACF-A788-4F15-B22F-2634726B57C8}" presName="compNode" presStyleCnt="0"/>
      <dgm:spPr/>
    </dgm:pt>
    <dgm:pt modelId="{D10CFCAF-6A62-4110-AC9A-C47459E7B55B}" type="pres">
      <dgm:prSet presAssocID="{DA32EACF-A788-4F15-B22F-2634726B57C8}" presName="bgRect" presStyleLbl="bgShp" presStyleIdx="0" presStyleCnt="2"/>
      <dgm:spPr/>
    </dgm:pt>
    <dgm:pt modelId="{22ECE7CE-485B-4538-A555-CBFD760A3DD9}" type="pres">
      <dgm:prSet presAssocID="{DA32EACF-A788-4F15-B22F-2634726B57C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0C08A92C-D0FC-47C9-83B6-86A44299D742}" type="pres">
      <dgm:prSet presAssocID="{DA32EACF-A788-4F15-B22F-2634726B57C8}" presName="spaceRect" presStyleCnt="0"/>
      <dgm:spPr/>
    </dgm:pt>
    <dgm:pt modelId="{6C489DF1-1B90-471E-A9DD-45B123C2A2B7}" type="pres">
      <dgm:prSet presAssocID="{DA32EACF-A788-4F15-B22F-2634726B57C8}" presName="parTx" presStyleLbl="revTx" presStyleIdx="0" presStyleCnt="4">
        <dgm:presLayoutVars>
          <dgm:chMax val="0"/>
          <dgm:chPref val="0"/>
        </dgm:presLayoutVars>
      </dgm:prSet>
      <dgm:spPr/>
    </dgm:pt>
    <dgm:pt modelId="{D7C904FF-317D-4933-B0D9-5087EBD14150}" type="pres">
      <dgm:prSet presAssocID="{DA32EACF-A788-4F15-B22F-2634726B57C8}" presName="desTx" presStyleLbl="revTx" presStyleIdx="1" presStyleCnt="4">
        <dgm:presLayoutVars/>
      </dgm:prSet>
      <dgm:spPr/>
    </dgm:pt>
    <dgm:pt modelId="{ECBB1ABE-EF7B-47E6-9FCF-D448C5AD615F}" type="pres">
      <dgm:prSet presAssocID="{8265CC31-0A44-47C8-8A7F-C95383705F03}" presName="sibTrans" presStyleCnt="0"/>
      <dgm:spPr/>
    </dgm:pt>
    <dgm:pt modelId="{30641D5D-F28C-4417-AA0C-288DE0A6499B}" type="pres">
      <dgm:prSet presAssocID="{3168A038-4E38-4F01-9ED4-62B54EBE896B}" presName="compNode" presStyleCnt="0"/>
      <dgm:spPr/>
    </dgm:pt>
    <dgm:pt modelId="{5D99592C-E7BD-4DAC-9AC8-E09D1458B78D}" type="pres">
      <dgm:prSet presAssocID="{3168A038-4E38-4F01-9ED4-62B54EBE896B}" presName="bgRect" presStyleLbl="bgShp" presStyleIdx="1" presStyleCnt="2"/>
      <dgm:spPr/>
    </dgm:pt>
    <dgm:pt modelId="{C8645839-C53D-434C-ACBE-44E1C107E7C8}" type="pres">
      <dgm:prSet presAssocID="{3168A038-4E38-4F01-9ED4-62B54EBE896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awl"/>
        </a:ext>
      </dgm:extLst>
    </dgm:pt>
    <dgm:pt modelId="{B87C5F17-78B5-452A-8DD4-AC5E04F77E5F}" type="pres">
      <dgm:prSet presAssocID="{3168A038-4E38-4F01-9ED4-62B54EBE896B}" presName="spaceRect" presStyleCnt="0"/>
      <dgm:spPr/>
    </dgm:pt>
    <dgm:pt modelId="{7EC418B1-E012-4EEA-89EA-5CB6A2958647}" type="pres">
      <dgm:prSet presAssocID="{3168A038-4E38-4F01-9ED4-62B54EBE896B}" presName="parTx" presStyleLbl="revTx" presStyleIdx="2" presStyleCnt="4">
        <dgm:presLayoutVars>
          <dgm:chMax val="0"/>
          <dgm:chPref val="0"/>
        </dgm:presLayoutVars>
      </dgm:prSet>
      <dgm:spPr/>
    </dgm:pt>
    <dgm:pt modelId="{B614BAC3-C34A-4591-860A-D8D0C8CEC583}" type="pres">
      <dgm:prSet presAssocID="{3168A038-4E38-4F01-9ED4-62B54EBE896B}" presName="desTx" presStyleLbl="revTx" presStyleIdx="3" presStyleCnt="4">
        <dgm:presLayoutVars/>
      </dgm:prSet>
      <dgm:spPr/>
    </dgm:pt>
  </dgm:ptLst>
  <dgm:cxnLst>
    <dgm:cxn modelId="{C5995A08-FC18-4ED4-9986-9757013B039C}" type="presOf" srcId="{FA8FDCEF-FE7A-44EC-9860-1CFB0F9CBA1E}" destId="{D7C904FF-317D-4933-B0D9-5087EBD14150}" srcOrd="0" destOrd="1" presId="urn:microsoft.com/office/officeart/2018/2/layout/IconVerticalSolidList"/>
    <dgm:cxn modelId="{A956801E-8DA0-4269-B7EE-9F26E192C43F}" type="presOf" srcId="{DB8E3D5C-E59F-4539-B0D0-88E86041F7CF}" destId="{B614BAC3-C34A-4591-860A-D8D0C8CEC583}" srcOrd="0" destOrd="2" presId="urn:microsoft.com/office/officeart/2018/2/layout/IconVerticalSolidList"/>
    <dgm:cxn modelId="{BC3CC122-F077-42FD-8EE8-526ED1BCEB6E}" srcId="{3168A038-4E38-4F01-9ED4-62B54EBE896B}" destId="{B4B4BA6F-DEAC-402F-AC19-8C35A5194EB6}" srcOrd="1" destOrd="0" parTransId="{DFF03944-87C7-4431-872C-3C1BF27B8A8B}" sibTransId="{60309BF9-5ADE-4E6E-991B-D3208FC4229D}"/>
    <dgm:cxn modelId="{8F7D9727-6CBC-4A33-BC5E-D1017970EA86}" type="presOf" srcId="{597A2A69-7BD4-428E-BE1C-C11046DBE277}" destId="{D91D6CCD-8AE8-4CA8-B305-EC732294442A}" srcOrd="0" destOrd="0" presId="urn:microsoft.com/office/officeart/2018/2/layout/IconVerticalSolidList"/>
    <dgm:cxn modelId="{0979A069-1183-480C-8566-DE340674D21A}" srcId="{DA32EACF-A788-4F15-B22F-2634726B57C8}" destId="{46ACC357-F7B7-4185-BF03-B327DB65BCAC}" srcOrd="0" destOrd="0" parTransId="{4136FE15-2502-419C-BFC7-1444E3F607AD}" sibTransId="{FF200AD7-0CC3-4B10-A982-D2F9B6D34475}"/>
    <dgm:cxn modelId="{22BFEC69-EC03-4502-916F-F5C800CCB2C7}" type="presOf" srcId="{DAA2F29B-8DBA-4939-BD0D-A3B7D3625568}" destId="{D7C904FF-317D-4933-B0D9-5087EBD14150}" srcOrd="0" destOrd="2" presId="urn:microsoft.com/office/officeart/2018/2/layout/IconVerticalSolidList"/>
    <dgm:cxn modelId="{1279394C-7594-43D6-8CBC-2FA337894F2C}" type="presOf" srcId="{3168A038-4E38-4F01-9ED4-62B54EBE896B}" destId="{7EC418B1-E012-4EEA-89EA-5CB6A2958647}" srcOrd="0" destOrd="0" presId="urn:microsoft.com/office/officeart/2018/2/layout/IconVerticalSolidList"/>
    <dgm:cxn modelId="{841C1676-5CAC-42A8-B0E3-AE5D2E6DB416}" srcId="{597A2A69-7BD4-428E-BE1C-C11046DBE277}" destId="{DA32EACF-A788-4F15-B22F-2634726B57C8}" srcOrd="0" destOrd="0" parTransId="{8D97A108-9A65-4F72-B745-EF9A928154A9}" sibTransId="{8265CC31-0A44-47C8-8A7F-C95383705F03}"/>
    <dgm:cxn modelId="{9E48F297-B13E-425B-8B30-706BD9761D7D}" type="presOf" srcId="{B4B4BA6F-DEAC-402F-AC19-8C35A5194EB6}" destId="{B614BAC3-C34A-4591-860A-D8D0C8CEC583}" srcOrd="0" destOrd="1" presId="urn:microsoft.com/office/officeart/2018/2/layout/IconVerticalSolidList"/>
    <dgm:cxn modelId="{F4C0799D-4F0C-43CA-9CD0-6D195AE7ADD6}" srcId="{DA32EACF-A788-4F15-B22F-2634726B57C8}" destId="{FA8FDCEF-FE7A-44EC-9860-1CFB0F9CBA1E}" srcOrd="1" destOrd="0" parTransId="{8724AB9D-3EFE-4B37-93A7-1278BFDB9155}" sibTransId="{4B1E8E67-1B9D-4560-9B25-71543B0CE758}"/>
    <dgm:cxn modelId="{4D95A19E-A0A6-4451-9D97-62129520D57D}" type="presOf" srcId="{46ACC357-F7B7-4185-BF03-B327DB65BCAC}" destId="{D7C904FF-317D-4933-B0D9-5087EBD14150}" srcOrd="0" destOrd="0" presId="urn:microsoft.com/office/officeart/2018/2/layout/IconVerticalSolidList"/>
    <dgm:cxn modelId="{9F2335DB-58BA-4348-AB79-056C974BB8A4}" srcId="{597A2A69-7BD4-428E-BE1C-C11046DBE277}" destId="{3168A038-4E38-4F01-9ED4-62B54EBE896B}" srcOrd="1" destOrd="0" parTransId="{CDE5A156-C31A-4959-B393-090A328D16EE}" sibTransId="{096D555F-CF5E-444B-8332-A9479AE84934}"/>
    <dgm:cxn modelId="{892AF5DB-0C7E-43B2-BD28-DC0FB7BEA6C5}" type="presOf" srcId="{DA32EACF-A788-4F15-B22F-2634726B57C8}" destId="{6C489DF1-1B90-471E-A9DD-45B123C2A2B7}" srcOrd="0" destOrd="0" presId="urn:microsoft.com/office/officeart/2018/2/layout/IconVerticalSolidList"/>
    <dgm:cxn modelId="{818790DF-1BAC-4CD0-B6F6-DD5F5B9DD929}" srcId="{3168A038-4E38-4F01-9ED4-62B54EBE896B}" destId="{DB8E3D5C-E59F-4539-B0D0-88E86041F7CF}" srcOrd="2" destOrd="0" parTransId="{BC1161FF-E947-4AEA-8976-4E3B71DB492A}" sibTransId="{A1DDDE39-3387-464F-867E-606E18FD022D}"/>
    <dgm:cxn modelId="{D214A4E5-02CF-43EC-AF44-97A5C848BC97}" srcId="{3168A038-4E38-4F01-9ED4-62B54EBE896B}" destId="{35FF1896-307F-4238-84EB-CC0E1FA7A73F}" srcOrd="0" destOrd="0" parTransId="{F51AC09C-D805-4B37-8A80-DCEAA64008C4}" sibTransId="{39B2B231-E39E-4B8E-8F33-E3E14167B40A}"/>
    <dgm:cxn modelId="{8BE414E9-7C28-47B2-BBD5-B689E46347CE}" srcId="{DA32EACF-A788-4F15-B22F-2634726B57C8}" destId="{DAA2F29B-8DBA-4939-BD0D-A3B7D3625568}" srcOrd="2" destOrd="0" parTransId="{71C7BBC2-E2D8-46CC-88EA-FA4CC5D407BC}" sibTransId="{A7374DD9-76E7-480C-8CC9-794B7575EC20}"/>
    <dgm:cxn modelId="{12269CF7-17EE-4306-90B9-D13E57FC7CDA}" type="presOf" srcId="{35FF1896-307F-4238-84EB-CC0E1FA7A73F}" destId="{B614BAC3-C34A-4591-860A-D8D0C8CEC583}" srcOrd="0" destOrd="0" presId="urn:microsoft.com/office/officeart/2018/2/layout/IconVerticalSolidList"/>
    <dgm:cxn modelId="{43D531DC-BB2F-407A-A819-11CC9865B22C}" type="presParOf" srcId="{D91D6CCD-8AE8-4CA8-B305-EC732294442A}" destId="{EA25C61C-6708-4399-9B50-A220AA026433}" srcOrd="0" destOrd="0" presId="urn:microsoft.com/office/officeart/2018/2/layout/IconVerticalSolidList"/>
    <dgm:cxn modelId="{99C04145-A834-4BBA-8089-BC64838948BA}" type="presParOf" srcId="{EA25C61C-6708-4399-9B50-A220AA026433}" destId="{D10CFCAF-6A62-4110-AC9A-C47459E7B55B}" srcOrd="0" destOrd="0" presId="urn:microsoft.com/office/officeart/2018/2/layout/IconVerticalSolidList"/>
    <dgm:cxn modelId="{285B82A1-5658-4C30-922D-E7AB48FA3E59}" type="presParOf" srcId="{EA25C61C-6708-4399-9B50-A220AA026433}" destId="{22ECE7CE-485B-4538-A555-CBFD760A3DD9}" srcOrd="1" destOrd="0" presId="urn:microsoft.com/office/officeart/2018/2/layout/IconVerticalSolidList"/>
    <dgm:cxn modelId="{9ECA4B97-1EE1-4960-8884-58C15619988C}" type="presParOf" srcId="{EA25C61C-6708-4399-9B50-A220AA026433}" destId="{0C08A92C-D0FC-47C9-83B6-86A44299D742}" srcOrd="2" destOrd="0" presId="urn:microsoft.com/office/officeart/2018/2/layout/IconVerticalSolidList"/>
    <dgm:cxn modelId="{6476A647-59EC-449C-A181-E091BCE0C216}" type="presParOf" srcId="{EA25C61C-6708-4399-9B50-A220AA026433}" destId="{6C489DF1-1B90-471E-A9DD-45B123C2A2B7}" srcOrd="3" destOrd="0" presId="urn:microsoft.com/office/officeart/2018/2/layout/IconVerticalSolidList"/>
    <dgm:cxn modelId="{D793E328-988C-4B49-B3BA-0C5CCC49B750}" type="presParOf" srcId="{EA25C61C-6708-4399-9B50-A220AA026433}" destId="{D7C904FF-317D-4933-B0D9-5087EBD14150}" srcOrd="4" destOrd="0" presId="urn:microsoft.com/office/officeart/2018/2/layout/IconVerticalSolidList"/>
    <dgm:cxn modelId="{AE838400-65A0-402E-A69E-9FD940B13134}" type="presParOf" srcId="{D91D6CCD-8AE8-4CA8-B305-EC732294442A}" destId="{ECBB1ABE-EF7B-47E6-9FCF-D448C5AD615F}" srcOrd="1" destOrd="0" presId="urn:microsoft.com/office/officeart/2018/2/layout/IconVerticalSolidList"/>
    <dgm:cxn modelId="{473E4E47-A8DB-4C55-ABF6-3D7C1ABA2B48}" type="presParOf" srcId="{D91D6CCD-8AE8-4CA8-B305-EC732294442A}" destId="{30641D5D-F28C-4417-AA0C-288DE0A6499B}" srcOrd="2" destOrd="0" presId="urn:microsoft.com/office/officeart/2018/2/layout/IconVerticalSolidList"/>
    <dgm:cxn modelId="{A78C0D84-1CF0-4452-A1D0-40F588687255}" type="presParOf" srcId="{30641D5D-F28C-4417-AA0C-288DE0A6499B}" destId="{5D99592C-E7BD-4DAC-9AC8-E09D1458B78D}" srcOrd="0" destOrd="0" presId="urn:microsoft.com/office/officeart/2018/2/layout/IconVerticalSolidList"/>
    <dgm:cxn modelId="{936F7B12-E2E1-4669-AD9A-D9626BB6B094}" type="presParOf" srcId="{30641D5D-F28C-4417-AA0C-288DE0A6499B}" destId="{C8645839-C53D-434C-ACBE-44E1C107E7C8}" srcOrd="1" destOrd="0" presId="urn:microsoft.com/office/officeart/2018/2/layout/IconVerticalSolidList"/>
    <dgm:cxn modelId="{BE88B392-968B-4E65-B66D-71C31843B4D2}" type="presParOf" srcId="{30641D5D-F28C-4417-AA0C-288DE0A6499B}" destId="{B87C5F17-78B5-452A-8DD4-AC5E04F77E5F}" srcOrd="2" destOrd="0" presId="urn:microsoft.com/office/officeart/2018/2/layout/IconVerticalSolidList"/>
    <dgm:cxn modelId="{34492800-410A-48FA-8A64-581A2F559EF4}" type="presParOf" srcId="{30641D5D-F28C-4417-AA0C-288DE0A6499B}" destId="{7EC418B1-E012-4EEA-89EA-5CB6A2958647}" srcOrd="3" destOrd="0" presId="urn:microsoft.com/office/officeart/2018/2/layout/IconVerticalSolidList"/>
    <dgm:cxn modelId="{84CC73DE-19B5-4119-9308-5EE94168E3E8}" type="presParOf" srcId="{30641D5D-F28C-4417-AA0C-288DE0A6499B}" destId="{B614BAC3-C34A-4591-860A-D8D0C8CEC58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0CFCAF-6A62-4110-AC9A-C47459E7B55B}">
      <dsp:nvSpPr>
        <dsp:cNvPr id="0" name=""/>
        <dsp:cNvSpPr/>
      </dsp:nvSpPr>
      <dsp:spPr>
        <a:xfrm>
          <a:off x="0" y="774659"/>
          <a:ext cx="10515600" cy="14301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ECE7CE-485B-4538-A555-CBFD760A3DD9}">
      <dsp:nvSpPr>
        <dsp:cNvPr id="0" name=""/>
        <dsp:cNvSpPr/>
      </dsp:nvSpPr>
      <dsp:spPr>
        <a:xfrm>
          <a:off x="432617" y="1096440"/>
          <a:ext cx="786577" cy="7865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489DF1-1B90-471E-A9DD-45B123C2A2B7}">
      <dsp:nvSpPr>
        <dsp:cNvPr id="0" name=""/>
        <dsp:cNvSpPr/>
      </dsp:nvSpPr>
      <dsp:spPr>
        <a:xfrm>
          <a:off x="1651811" y="774659"/>
          <a:ext cx="4732020" cy="1430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357" tIns="151357" rIns="151357" bIns="151357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Pylon 1: </a:t>
          </a:r>
        </a:p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Strategic Macro-Segmentation </a:t>
          </a:r>
          <a:br>
            <a:rPr lang="en-US" sz="2100" kern="1200" dirty="0"/>
          </a:br>
          <a:r>
            <a:rPr lang="en-US" sz="2100" kern="1200" dirty="0"/>
            <a:t>(2-Cluster Model)</a:t>
          </a:r>
        </a:p>
      </dsp:txBody>
      <dsp:txXfrm>
        <a:off x="1651811" y="774659"/>
        <a:ext cx="4732020" cy="1430140"/>
      </dsp:txXfrm>
    </dsp:sp>
    <dsp:sp modelId="{D7C904FF-317D-4933-B0D9-5087EBD14150}">
      <dsp:nvSpPr>
        <dsp:cNvPr id="0" name=""/>
        <dsp:cNvSpPr/>
      </dsp:nvSpPr>
      <dsp:spPr>
        <a:xfrm>
          <a:off x="6383831" y="774659"/>
          <a:ext cx="4131768" cy="1430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357" tIns="151357" rIns="151357" bIns="15135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Primary Focus: </a:t>
          </a:r>
          <a:r>
            <a:rPr lang="en-US" sz="1400" kern="1200" dirty="0"/>
            <a:t>The fundamental market divide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Business Utility: </a:t>
          </a:r>
          <a:r>
            <a:rPr lang="en-US" sz="1400" kern="1200" dirty="0"/>
            <a:t>Brand Positioning &amp; Strategy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Key Metric: </a:t>
          </a:r>
          <a:r>
            <a:rPr lang="en-US" sz="1400" kern="1200" dirty="0"/>
            <a:t>Demographic &amp; Category Gravity</a:t>
          </a:r>
        </a:p>
      </dsp:txBody>
      <dsp:txXfrm>
        <a:off x="6383831" y="774659"/>
        <a:ext cx="4131768" cy="1430140"/>
      </dsp:txXfrm>
    </dsp:sp>
    <dsp:sp modelId="{5D99592C-E7BD-4DAC-9AC8-E09D1458B78D}">
      <dsp:nvSpPr>
        <dsp:cNvPr id="0" name=""/>
        <dsp:cNvSpPr/>
      </dsp:nvSpPr>
      <dsp:spPr>
        <a:xfrm>
          <a:off x="0" y="2562334"/>
          <a:ext cx="10515600" cy="143014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645839-C53D-434C-ACBE-44E1C107E7C8}">
      <dsp:nvSpPr>
        <dsp:cNvPr id="0" name=""/>
        <dsp:cNvSpPr/>
      </dsp:nvSpPr>
      <dsp:spPr>
        <a:xfrm>
          <a:off x="432617" y="2884116"/>
          <a:ext cx="786577" cy="7865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C418B1-E012-4EEA-89EA-5CB6A2958647}">
      <dsp:nvSpPr>
        <dsp:cNvPr id="0" name=""/>
        <dsp:cNvSpPr/>
      </dsp:nvSpPr>
      <dsp:spPr>
        <a:xfrm>
          <a:off x="1651811" y="2562334"/>
          <a:ext cx="4732020" cy="1430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357" tIns="151357" rIns="151357" bIns="151357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Pylon 2: </a:t>
          </a:r>
        </a:p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Tactical Micro-Persona Analysis </a:t>
          </a:r>
          <a:br>
            <a:rPr lang="en-US" sz="2100" kern="1200" dirty="0"/>
          </a:br>
          <a:r>
            <a:rPr lang="en-US" sz="2100" kern="1200" dirty="0"/>
            <a:t>(4-Cluster Model)</a:t>
          </a:r>
        </a:p>
      </dsp:txBody>
      <dsp:txXfrm>
        <a:off x="1651811" y="2562334"/>
        <a:ext cx="4732020" cy="1430140"/>
      </dsp:txXfrm>
    </dsp:sp>
    <dsp:sp modelId="{B614BAC3-C34A-4591-860A-D8D0C8CEC583}">
      <dsp:nvSpPr>
        <dsp:cNvPr id="0" name=""/>
        <dsp:cNvSpPr/>
      </dsp:nvSpPr>
      <dsp:spPr>
        <a:xfrm>
          <a:off x="6383831" y="2562334"/>
          <a:ext cx="4131768" cy="1430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357" tIns="151357" rIns="151357" bIns="15135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Primary Focus: </a:t>
          </a:r>
          <a:r>
            <a:rPr lang="en-US" sz="1400" kern="1200" dirty="0"/>
            <a:t>The Granular Buying Habits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Business Utility: </a:t>
          </a:r>
          <a:r>
            <a:rPr lang="en-US" sz="1400" kern="1200" dirty="0"/>
            <a:t>Targeted Execution &amp; Personalization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Key Metric: </a:t>
          </a:r>
          <a:r>
            <a:rPr lang="en-US" sz="1400" kern="1200" dirty="0"/>
            <a:t>Frequency, Rating, &amp; Purchase Logic</a:t>
          </a:r>
        </a:p>
      </dsp:txBody>
      <dsp:txXfrm>
        <a:off x="6383831" y="2562334"/>
        <a:ext cx="4131768" cy="14301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29571-6F66-49D1-9887-EFDDFCF9F9D0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E461B-2F0D-4408-A613-00B6B29FF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42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E461B-2F0D-4408-A613-00B6B29FF7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152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A7E08-AF27-4271-21BC-546A5379E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7CFE4-8A01-E220-31B8-9C399A958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46858-CF6D-E3A6-3B58-D9506E2C0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1F2E-CF77-4537-B61F-4A00C029689E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5D6BC-3042-25BD-1324-B26C32054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D509E-C0F6-7B1B-986B-F23584472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E37-BDD3-4CE9-8226-339474BC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98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8A22A-4766-9420-4955-5D734E48E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246A0-EE97-E6A2-00CA-E7E4371A9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F0809-EF16-CC2A-B4D3-B8AE9842B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1F2E-CF77-4537-B61F-4A00C029689E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AF139-103A-24E4-B9B7-D080EBBB1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B713F-0EB8-F8E5-C2E7-B9BB0D6A2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E37-BDD3-4CE9-8226-339474BC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32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9F7C1-F874-7461-F0C6-CC58F7E82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2FCBC-F0CE-1577-FCA7-210800A8B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4C1DB-2C60-3C44-7825-0411E3CC2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1F2E-CF77-4537-B61F-4A00C029689E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B516D-74E9-31D7-A839-E7F54B4BE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F1667-F216-A5B8-BC89-FD971E92D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E37-BDD3-4CE9-8226-339474BC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39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DECF0-9D6C-E09A-EA3B-109E0988D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BE2D2-6345-F472-E486-A6A303A11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95310-7ACA-9186-122D-0A2AED5ED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565CB-4CF8-B906-3E89-3497B85A7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1F2E-CF77-4537-B61F-4A00C029689E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C06E3-1FFE-3FEA-0C3A-8030C754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B3BCF-39D0-7B46-9FC3-6A9BE47EA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E37-BDD3-4CE9-8226-339474BC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22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10AA2-7821-F7A3-28A0-825C3FFAB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5E742-FEB8-0C29-E527-D49D4BAA3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50F088-7D0C-D9D3-0F39-D7D89035B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C6DEB9-7EA6-002E-55C2-38AD4B5DDE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1BC080-02F8-1A6D-D46F-DB7A776C2B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ACCB9-BBC2-971F-6531-F47E637E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1F2E-CF77-4537-B61F-4A00C029689E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C15FA4-5606-0362-7E4E-8A943A73C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3B2926-0A7F-5C9E-2461-CE18EC84A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E37-BDD3-4CE9-8226-339474BC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027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AFAEC-0D21-EF64-F93B-345D5D116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895BE4-3A31-4E5C-07B4-B2CC8A78A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1F2E-CF77-4537-B61F-4A00C029689E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D0F6CC-AF59-7FC0-5D07-C1726CED0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95C54A-50E0-CB55-AC2E-F39C43BF8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E37-BDD3-4CE9-8226-339474BC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30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54858F-5E18-5DDE-52B7-16FCE626F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1F2E-CF77-4537-B61F-4A00C029689E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99ECD6-7491-7AF4-7681-BDC9BDFB6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9645D-2B1E-9E5E-BF01-CF209C375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E37-BDD3-4CE9-8226-339474BC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1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80288-79B1-209C-1423-2D0D59BFC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9C202-1EB5-8E95-ED77-6A5BB3D14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872582-7CAF-B4FA-F49C-DE7DAB049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FA65F-7063-DD96-C86A-0B9485FE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1F2E-CF77-4537-B61F-4A00C029689E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4D046-43E2-6B4C-2E9D-9B0AE6FA6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48D87-2BEB-1A02-B6DF-9397DC698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E37-BDD3-4CE9-8226-339474BC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209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AE6A0-A526-B438-D530-3B51C46D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1B8D76-6BC3-CE43-0CE2-2F6638B8A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4FF9D-8A8D-463B-612B-1DEB24503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3F646-75A7-1559-7010-8C70257C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1F2E-CF77-4537-B61F-4A00C029689E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8BC47-05D2-3A85-A3B9-9533DD50F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E7088-4DDB-D8AC-2A7B-758C0E13F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E37-BDD3-4CE9-8226-339474BC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72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4EEF-3A13-C4C4-D010-116CAC895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5B09D-226E-B7C3-7BF0-8F85A597F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105D8-2554-4467-BD7E-6A6312132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1F2E-CF77-4537-B61F-4A00C029689E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7DF28-8DA4-6300-005F-4BCDE6065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2F5CA-1CD0-A303-95AF-05168CDC0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E37-BDD3-4CE9-8226-339474BC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48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205296-D8A1-F217-DC4E-EA37055AF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EE8A12-2EC3-32C2-8ACA-F53A1C482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55B61-2EA8-9B11-8BFD-DCFFA3820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1F2E-CF77-4537-B61F-4A00C029689E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FF21A-B768-3F7A-6AEA-DB4E8139E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7868B-DAA3-4B7C-C3C3-8CC47222E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0CE37-BDD3-4CE9-8226-339474BC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0D2BB-ABCD-022C-E850-1B5BCDC8E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33AD8-146B-A911-91DC-3C831D486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1AD7F-7E7D-AF84-BE99-41BE41851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AF1F2E-CF77-4537-B61F-4A00C029689E}" type="datetimeFigureOut">
              <a:rPr lang="en-US" smtClean="0"/>
              <a:t>03-Apr-26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EAE47-79C7-9DE6-CFA0-D49801085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7BC9C-9F83-9DC1-3A2F-84E1A4250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C0CE37-BDD3-4CE9-8226-339474BCB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77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bstract blurred background of department store">
            <a:extLst>
              <a:ext uri="{FF2B5EF4-FFF2-40B4-BE49-F238E27FC236}">
                <a16:creationId xmlns:a16="http://schemas.microsoft.com/office/drawing/2014/main" id="{BEA66DAD-6F71-0544-9A01-EE4613CBCD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>
            <a:fillRect/>
          </a:stretch>
        </p:blipFill>
        <p:spPr>
          <a:xfrm>
            <a:off x="2555441" y="0"/>
            <a:ext cx="9669642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1ECE41-2AE2-EAA2-2CA2-D5C388B4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Segmented Customer Buying Habits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441F14-9C6F-F43D-D47D-56C39A7D9EB3}"/>
              </a:ext>
            </a:extLst>
          </p:cNvPr>
          <p:cNvSpPr txBox="1"/>
          <p:nvPr/>
        </p:nvSpPr>
        <p:spPr>
          <a:xfrm>
            <a:off x="83820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Analysis and conclusions by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Thanos Chronopoulos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Andreas Gabriel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Filippos Georgiopoulos</a:t>
            </a:r>
          </a:p>
        </p:txBody>
      </p:sp>
    </p:spTree>
    <p:extLst>
      <p:ext uri="{BB962C8B-B14F-4D97-AF65-F5344CB8AC3E}">
        <p14:creationId xmlns:p14="http://schemas.microsoft.com/office/powerpoint/2010/main" val="897448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B8002-EE43-94C3-44DA-9903EF4E6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6575"/>
          </a:xfrm>
        </p:spPr>
        <p:txBody>
          <a:bodyPr>
            <a:normAutofit fontScale="90000"/>
          </a:bodyPr>
          <a:lstStyle/>
          <a:p>
            <a:r>
              <a:rPr lang="en-US" dirty="0"/>
              <a:t>Executive 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E35A02-27F2-CFAE-13CF-9583DEA001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393232"/>
              </p:ext>
            </p:extLst>
          </p:nvPr>
        </p:nvGraphicFramePr>
        <p:xfrm>
          <a:off x="838200" y="1409829"/>
          <a:ext cx="10515600" cy="47671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4E4BCA9-2B7B-C302-BD9F-CC097FEE13BE}"/>
              </a:ext>
            </a:extLst>
          </p:cNvPr>
          <p:cNvSpPr txBox="1"/>
          <p:nvPr/>
        </p:nvSpPr>
        <p:spPr>
          <a:xfrm>
            <a:off x="838200" y="1040497"/>
            <a:ext cx="8820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analysis focused on two key pylons for our customer clustering</a:t>
            </a:r>
          </a:p>
        </p:txBody>
      </p:sp>
    </p:spTree>
    <p:extLst>
      <p:ext uri="{BB962C8B-B14F-4D97-AF65-F5344CB8AC3E}">
        <p14:creationId xmlns:p14="http://schemas.microsoft.com/office/powerpoint/2010/main" val="590423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38A29E-C6F2-61F4-2BFE-1FF820B42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61A5CF-7CF7-204B-E7DF-CF9538CF4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742" y="2016432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algn="ctr"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Pylon 1: </a:t>
            </a: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Strategic Macro-Segmentation </a:t>
            </a: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(2-Cluster Model)</a:t>
            </a:r>
            <a:b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5" name="Graphic 24" descr="Maze">
            <a:extLst>
              <a:ext uri="{FF2B5EF4-FFF2-40B4-BE49-F238E27FC236}">
                <a16:creationId xmlns:a16="http://schemas.microsoft.com/office/drawing/2014/main" id="{0E56905D-3B31-0C82-6D6F-09CAAB4177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14801" y="578738"/>
            <a:ext cx="5670549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19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BF0CC0-B9E6-7084-72B2-B1DB4F39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Two </a:t>
            </a: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primary customer segments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12B70D-1A5F-A6E1-26C2-6346AFB25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063066"/>
            <a:ext cx="6780700" cy="472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0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817EAE-77AB-F6D5-59AD-496A7C453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Gender Split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9CA93F-97AE-E120-2C09-4C76244E2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1876213"/>
            <a:ext cx="8343900" cy="44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326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260EE2-F149-0FAD-67D9-D8CB637C3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44A651-35DC-802D-A10B-94C6D869E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Category Preferences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E5E260-9A05-D1F7-C995-9FAC6FD0D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575" y="1855892"/>
            <a:ext cx="8324850" cy="442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1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4D4CBA-383A-FD44-8EB0-F1ADFB147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90A55C-9B07-1902-4974-DEDF4375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Amount of Previous Purchases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177C3E-5B22-6EF5-7A79-805200D6D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237" y="1896532"/>
            <a:ext cx="8391525" cy="43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21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EB500F-549F-9C9B-0464-155342A54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22303-0B5F-0B9E-278A-CE6E4E627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Payment Method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C57ED8-F669-3ABF-7F81-0C9A21ED8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5" y="1828799"/>
            <a:ext cx="8286750" cy="451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007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326D2A-CAFD-2392-5880-49D821D3A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3A580B-95A0-5370-CC4B-B82BFA7A2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Distribution of Purchase Amount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844148-5D11-3A43-D055-E1D7FDA7C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849120"/>
            <a:ext cx="8382000" cy="449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77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3ABBEB-9786-C9E8-90E7-C8ACD8C29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C8E5EA95-2530-477C-F01F-D2CAC71C2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19702BFF-967C-BD4C-1F6A-116652081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913A4-A6AA-E42C-4937-02DD64571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Main drivers for the clusters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3EA166B0-0BA0-1135-46FA-998FB6C8A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9D459A-A070-EDD2-3FC4-FEBFF73FD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360" y="1855892"/>
            <a:ext cx="7247467" cy="449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067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802B2-EC60-4F6E-839E-DAEA5857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1E3F5A77-2DB1-A662-F440-25A5C72B5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0977F15-62D8-E883-AADA-97CC61F71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88B5F5F-320B-D567-63E5-600184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FD2B79A-DFBF-9D2D-5E26-10424219F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C930F17-E00B-27CA-C7A4-D87B42CD4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9D59BAB-E998-1372-0664-9FE90A815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000538-71A5-7A9C-9C46-06BAC300B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586855"/>
            <a:ext cx="51562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</a:rPr>
              <a:t>Conclusion:</a:t>
            </a:r>
            <a:br>
              <a:rPr lang="en-US" sz="4000" b="1" dirty="0">
                <a:solidFill>
                  <a:srgbClr val="FFFFFF"/>
                </a:solidFill>
              </a:rPr>
            </a:br>
            <a:br>
              <a:rPr lang="en-US" sz="4000" b="1" dirty="0">
                <a:solidFill>
                  <a:srgbClr val="FFFFFF"/>
                </a:solidFill>
              </a:rPr>
            </a:br>
            <a:r>
              <a:rPr lang="en-US" sz="4000" b="1" dirty="0">
                <a:solidFill>
                  <a:srgbClr val="FFFFFF"/>
                </a:solidFill>
              </a:rPr>
              <a:t>The "Mass Market" vs. </a:t>
            </a:r>
            <a:br>
              <a:rPr lang="en-US" sz="4000" b="1" dirty="0">
                <a:solidFill>
                  <a:srgbClr val="FFFFFF"/>
                </a:solidFill>
              </a:rPr>
            </a:br>
            <a:r>
              <a:rPr lang="en-US" sz="4000" b="1" dirty="0">
                <a:solidFill>
                  <a:srgbClr val="FFFFFF"/>
                </a:solidFill>
              </a:rPr>
              <a:t>"Footwear Specialist" Split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7D4A1F-34FA-C7E1-E891-D1D152E1D03F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The dataset is dominated by one massive, diverse group, with a much smaller secondary group defined by a very specific product interest.</a:t>
            </a:r>
            <a:br>
              <a:rPr lang="en-US" sz="1400" dirty="0"/>
            </a:b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Segment 0 (The Footwear Specialist): </a:t>
            </a:r>
            <a:r>
              <a:rPr lang="en-US" sz="1400" dirty="0"/>
              <a:t>A much smaller, niche group containing only a fraction of both male and female shoppers. This segment is defined almost exclusively by their focus on Footwear.</a:t>
            </a:r>
            <a:br>
              <a:rPr lang="en-US" sz="1400" dirty="0"/>
            </a:b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Segment 1 (Mass Market): </a:t>
            </a:r>
            <a:r>
              <a:rPr lang="en-US" sz="1400" dirty="0"/>
              <a:t>This is a high-volume, Gender-Neutral cluster. It contains nearly all female shoppers and the vast majority of males. This group is primarily interested in Clothing and Accessories.</a:t>
            </a:r>
            <a:br>
              <a:rPr lang="en-US" sz="1400" dirty="0"/>
            </a:b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Strategic Pivot: </a:t>
            </a:r>
            <a:r>
              <a:rPr lang="en-US" sz="1400" dirty="0"/>
              <a:t>Prioritize broad-reach Apparel and Lifestyle campaigns for the Mass Market (Segment 1), while creating a highly targeted "Footwear Specialist" track for Segment 0.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  <a:p>
            <a:r>
              <a:rPr lang="en-US" sz="1400" b="1" dirty="0"/>
              <a:t>Next Steps: </a:t>
            </a:r>
            <a:r>
              <a:rPr lang="en-US" sz="1400" dirty="0"/>
              <a:t>Transitioning to the 4-Cluster Model</a:t>
            </a:r>
          </a:p>
          <a:p>
            <a:r>
              <a:rPr lang="en-US" sz="1400" dirty="0"/>
              <a:t>By moving from 2 to 4 clusters, we will "shatter" these large blocks—specifically the blended Segment 1—to identify </a:t>
            </a:r>
            <a:r>
              <a:rPr lang="en-US" sz="1400" b="1" dirty="0"/>
              <a:t>"High-Value VIPs"</a:t>
            </a:r>
            <a:r>
              <a:rPr lang="en-US" sz="1400" dirty="0"/>
              <a:t> hidden within the big groups.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94004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E628CF-5400-A865-8441-566BBDB22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3BD683C-3BE1-5C45-67FB-29FF71EF5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D5BE6D7-37FF-9219-DDC0-7D0286003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54C754-A3B0-0401-57B7-3CF2EE979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742" y="2016432"/>
            <a:ext cx="3616913" cy="279516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lvl="0" algn="ctr">
              <a:lnSpc>
                <a:spcPct val="100000"/>
              </a:lnSpc>
            </a:pPr>
            <a:r>
              <a:rPr lang="en-US" sz="4000" dirty="0"/>
              <a:t>Pylon 2: </a:t>
            </a:r>
            <a:br>
              <a:rPr lang="en-US" sz="4000" dirty="0"/>
            </a:br>
            <a:r>
              <a:rPr lang="en-US" sz="4000" dirty="0"/>
              <a:t>Tactical Micro-Persona Analysis </a:t>
            </a:r>
            <a:br>
              <a:rPr lang="en-US" sz="4000" dirty="0"/>
            </a:br>
            <a:r>
              <a:rPr lang="en-US" sz="4000" dirty="0"/>
              <a:t>(4-Cluster Model)</a:t>
            </a:r>
            <a:br>
              <a:rPr lang="en-US" sz="4000" dirty="0"/>
            </a:br>
            <a:endParaRPr lang="en-US" sz="3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5" name="Graphic 24" descr="Maze">
            <a:extLst>
              <a:ext uri="{FF2B5EF4-FFF2-40B4-BE49-F238E27FC236}">
                <a16:creationId xmlns:a16="http://schemas.microsoft.com/office/drawing/2014/main" id="{797994C8-828D-DD90-1937-3F8C6B8A58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14801" y="578738"/>
            <a:ext cx="5670549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1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5FCDFB-0B7C-27F7-8270-197035F63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own Arrow 7">
            <a:extLst>
              <a:ext uri="{FF2B5EF4-FFF2-40B4-BE49-F238E27FC236}">
                <a16:creationId xmlns:a16="http://schemas.microsoft.com/office/drawing/2014/main" id="{28F4E8C7-FAEB-4A47-6C75-D04E90650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BBB7E7-24FD-E03D-FB6E-133D84C1C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Four distinct customer sub-segments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BC7EC8-A19A-0F6C-5C33-659BE0645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665" y="1574019"/>
            <a:ext cx="7699485" cy="352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397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4744B-B213-93ED-E2B2-C32900FDC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46C6079-E9D8-C066-5612-15E047F37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6198289-9210-3767-C19A-47F25A010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85F48F-1749-8A58-F436-D33435AB4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Customers Per Segment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0FAEFAD-1566-58AD-3F0C-337A7EF8A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BE8C29-F50F-015D-4D34-EA6807EA2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409" y="2008641"/>
            <a:ext cx="7401181" cy="417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525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C114E-88D1-5E1D-493D-2BC833A69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B254196-7210-5E37-ACCE-ACC6A17D1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A02F232-9C6C-5269-5208-B1471A639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75543-6EEB-BBE5-4BD6-A2D7FD4A2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 vs Purchase Amount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61DCEE1-F06B-C46E-72C7-DD3A00FCC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5086B2-E71F-2B5F-7B8E-AE118D822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221" y="1842347"/>
            <a:ext cx="9521046" cy="450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646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5A882-1119-B5A9-5537-7ACE82D4E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082316E-DD28-2FF2-61F3-B7039205C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E109972-355B-35D4-A0C4-8146910D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B26C11-C3E8-29C9-9A45-58BA21DCA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Purchase Amount Distribution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78E2027-13EC-3231-4021-74A21A503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167B79-BAE2-51F6-1337-4ECA9DBBB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214" y="1815252"/>
            <a:ext cx="8544136" cy="458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184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44DED5-70DE-D088-494F-45F4BD420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F0378D4-3FF3-0007-456A-2E135F461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A0D2928-2DE4-FA18-0C89-9613C8D85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A728C3-4DF8-BBF0-B104-806C641C9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50E0059-20D5-9611-0874-1AB2C409B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B8F3BD-C3F5-1CC5-A3DE-01AEA7592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12" y="1815254"/>
            <a:ext cx="8029575" cy="453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011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62E79F-E293-05A6-23DA-7DFC4B903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bstract blurred background of department store">
            <a:extLst>
              <a:ext uri="{FF2B5EF4-FFF2-40B4-BE49-F238E27FC236}">
                <a16:creationId xmlns:a16="http://schemas.microsoft.com/office/drawing/2014/main" id="{C47E2A30-3519-D128-A9B5-A310F88BD2F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r="-1" b="15708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8C3230-3173-F88D-C965-7D6100817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</a:rPr>
              <a:t>Now let’s move on to the Power BI dashboard</a:t>
            </a:r>
          </a:p>
        </p:txBody>
      </p:sp>
      <p:sp>
        <p:nvSpPr>
          <p:cNvPr id="35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69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360</Words>
  <Application>Microsoft Office PowerPoint</Application>
  <PresentationFormat>Widescreen</PresentationFormat>
  <Paragraphs>44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Segmented Customer Buying Habits Analysis</vt:lpstr>
      <vt:lpstr>Executive Summary</vt:lpstr>
      <vt:lpstr>Pylon 1:  Strategic Macro-Segmentation  (2-Cluster Model) </vt:lpstr>
      <vt:lpstr>Two primary customer segments</vt:lpstr>
      <vt:lpstr>The Gender Split</vt:lpstr>
      <vt:lpstr>Category Preferences</vt:lpstr>
      <vt:lpstr>Amount of Previous Purchases</vt:lpstr>
      <vt:lpstr>Payment Method</vt:lpstr>
      <vt:lpstr>Distribution of Purchase Amount</vt:lpstr>
      <vt:lpstr>Main drivers for the clusters</vt:lpstr>
      <vt:lpstr>Conclusion:  The "Mass Market" vs.  "Footwear Specialist" Split </vt:lpstr>
      <vt:lpstr>Pylon 2:  Tactical Micro-Persona Analysis  (4-Cluster Model) </vt:lpstr>
      <vt:lpstr>Four distinct customer sub-segments</vt:lpstr>
      <vt:lpstr>Customers Per Segment</vt:lpstr>
      <vt:lpstr>Age vs Purchase Amount</vt:lpstr>
      <vt:lpstr>Purchase Amount Distribution</vt:lpstr>
      <vt:lpstr>Age</vt:lpstr>
      <vt:lpstr>Now let’s move on to the Power BI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Gabriel</dc:creator>
  <cp:lastModifiedBy>Andreas Gabriel</cp:lastModifiedBy>
  <cp:revision>13</cp:revision>
  <dcterms:created xsi:type="dcterms:W3CDTF">2026-03-07T11:28:55Z</dcterms:created>
  <dcterms:modified xsi:type="dcterms:W3CDTF">2026-04-02T21:18:11Z</dcterms:modified>
</cp:coreProperties>
</file>